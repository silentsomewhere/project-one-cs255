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234" y="78"/>
      </p:cViewPr>
      <p:guideLst>
        <p:guide orient="horz" pos="2160"/>
        <p:guide pos="2880"/>
      </p:guideLst>
    </p:cSldViewPr>
  </p:slideViewPr>
  <p:notesTextViewPr>
    <p:cViewPr>
      <p:scale>
        <a:sx n="100" d="100"/>
        <a:sy n="100" d="100"/>
      </p:scale>
      <p:origin x="0" y="-21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8162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Today I will walk through the proposed </a:t>
            </a:r>
            <a:r>
              <a:rPr dirty="0" err="1"/>
              <a:t>DriverPass</a:t>
            </a:r>
            <a:r>
              <a:t> system at a high level. </a:t>
            </a:r>
            <a:r>
              <a:rPr dirty="0"/>
              <a:t>The goal is to show how the design supports customers who need driver training and employees who schedule lessons, manage information, and keep learning materials current. The diagrams are planning tools that help the development team build the system around the business needs we discussed.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is intended to make DriverPass easier to use for both customers and employees. Customers can manage their accounts and reservations online, while the secretary can schedule appointments for people who call or visit the office. Each lesson needs to be connected to a customer, driver, vehicle, date, and time. Online course content and practice tests are available for customers whose package includes them. Management can review reports and changes, and DriverPass needs a way to receive current information from the DMV.</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diagram shows who uses DriverPass and the main tasks each person needs to perform. Customers register, choose packages, book or change lessons, and take practice tests when their package allows it. The secretary helps with customer records and appointments. Drivers record lesson notes. The owner can review reports and manage packages, while the IT officer maintains accounts and access. The DMV is outside DriverPass but provides information that helps keep training content current.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activity diagram explains the lesson-booking process in simple steps. Before a reservation is confirmed, the system checks that both a driver and a vehicle are available for the requested two-hour period. If the slot is not available, the user can choose another time. When it is available, the system saves the reservation and records who created it. This should help reduce double-booking and provide a clear history if a reservation later needs to be reviewed.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is important because DriverPass will handle personal information, reservations, and payment-related activity. The system will give each role only the access needed for its responsibilities. The IT officer can reset accounts and block access when necessary. Important changes will be recorded so management can identify who made a change and when. Card processing should be handled by an established payment provider instead of storing unnecessary card details inside DriverPass. Cloud hosting should also include appropriate backups and secure connections.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There are a few limitations to keep expectations clear. Users need to be online to create or change central records because offline edits could create duplicate or conflicting information. Users can download reports and work with those files offline. The timing and format of DMV updates depend on the method the DMV makes available, and payments depend on the selected provider. In the first release, staff can disable existing packages, but creating or removing software modules will require developer support.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next step is to confirm a few implementation details with DriverPass. We need to agree on the payment provider and how DMV updates will be received. We should also review employee permissions, the exact reservation conflict rules, and what events need to be recorded in the activity history. Once DriverPass approves these details and the diagrams, the development team can use this design as a guide for implementation.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881360" cy="594360"/>
          </a:xfrm>
          <a:prstGeom prst="rect">
            <a:avLst/>
          </a:prstGeom>
          <a:noFill/>
        </p:spPr>
        <p:txBody>
          <a:bodyPr wrap="square">
            <a:spAutoFit/>
          </a:bodyPr>
          <a:lstStyle/>
          <a:p>
            <a:pPr>
              <a:spcAft>
                <a:spcPts val="1000"/>
              </a:spcAft>
              <a:defRPr sz="3000" b="1">
                <a:solidFill>
                  <a:srgbClr val="17365D"/>
                </a:solidFill>
                <a:latin typeface="Aptos"/>
              </a:defRPr>
            </a:pPr>
            <a:r>
              <a:t>DriverPass System Design</a:t>
            </a:r>
          </a:p>
        </p:txBody>
      </p:sp>
      <p:sp>
        <p:nvSpPr>
          <p:cNvPr id="4" name="TextBox 3"/>
          <p:cNvSpPr txBox="1"/>
          <p:nvPr/>
        </p:nvSpPr>
        <p:spPr>
          <a:xfrm>
            <a:off x="822960" y="1371600"/>
            <a:ext cx="10424160" cy="4937760"/>
          </a:xfrm>
          <a:prstGeom prst="rect">
            <a:avLst/>
          </a:prstGeom>
          <a:noFill/>
        </p:spPr>
        <p:txBody>
          <a:bodyPr wrap="square">
            <a:spAutoFit/>
          </a:bodyPr>
          <a:lstStyle/>
          <a:p>
            <a:pPr>
              <a:spcAft>
                <a:spcPts val="1000"/>
              </a:spcAft>
              <a:defRPr sz="2300" b="0">
                <a:solidFill>
                  <a:srgbClr val="374558"/>
                </a:solidFill>
                <a:latin typeface="Aptos"/>
              </a:defRPr>
            </a:pPr>
            <a:r>
              <a:t>A practical online system for driver training</a:t>
            </a:r>
          </a:p>
          <a:p>
            <a:pPr>
              <a:spcAft>
                <a:spcPts val="1000"/>
              </a:spcAft>
              <a:defRPr sz="2300" b="0">
                <a:solidFill>
                  <a:srgbClr val="374558"/>
                </a:solidFill>
                <a:latin typeface="Aptos"/>
              </a:defRPr>
            </a:pPr>
            <a:r>
              <a:t>Prepared by Kristina Pagan | CS 255</a:t>
            </a:r>
          </a:p>
        </p:txBody>
      </p:sp>
      <p:sp>
        <p:nvSpPr>
          <p:cNvPr id="5" name="Rectangle 4"/>
          <p:cNvSpPr/>
          <p:nvPr/>
        </p:nvSpPr>
        <p:spPr>
          <a:xfrm>
            <a:off x="731520" y="6263640"/>
            <a:ext cx="10698480" cy="22860"/>
          </a:xfrm>
          <a:prstGeom prst="rect">
            <a:avLst/>
          </a:prstGeom>
          <a:solidFill>
            <a:srgbClr val="D2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473952"/>
            <a:ext cx="640080" cy="182880"/>
          </a:xfrm>
          <a:prstGeom prst="rect">
            <a:avLst/>
          </a:prstGeom>
          <a:noFill/>
        </p:spPr>
        <p:txBody>
          <a:bodyPr wrap="square">
            <a:spAutoFit/>
          </a:bodyPr>
          <a:lstStyle/>
          <a:p>
            <a:pPr>
              <a:spcAft>
                <a:spcPts val="1000"/>
              </a:spcAft>
              <a:defRPr sz="900" b="0">
                <a:solidFill>
                  <a:srgbClr val="596579"/>
                </a:solidFill>
                <a:latin typeface="Aptos"/>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881360" cy="594360"/>
          </a:xfrm>
          <a:prstGeom prst="rect">
            <a:avLst/>
          </a:prstGeom>
          <a:noFill/>
        </p:spPr>
        <p:txBody>
          <a:bodyPr wrap="square">
            <a:spAutoFit/>
          </a:bodyPr>
          <a:lstStyle/>
          <a:p>
            <a:pPr>
              <a:spcAft>
                <a:spcPts val="1000"/>
              </a:spcAft>
              <a:defRPr sz="3000" b="1">
                <a:solidFill>
                  <a:srgbClr val="17365D"/>
                </a:solidFill>
                <a:latin typeface="Aptos"/>
              </a:defRPr>
            </a:pPr>
            <a:r>
              <a:t>System Requirements</a:t>
            </a:r>
          </a:p>
        </p:txBody>
      </p:sp>
      <p:sp>
        <p:nvSpPr>
          <p:cNvPr id="4" name="TextBox 3"/>
          <p:cNvSpPr txBox="1"/>
          <p:nvPr/>
        </p:nvSpPr>
        <p:spPr>
          <a:xfrm>
            <a:off x="822960" y="1371600"/>
            <a:ext cx="10424160" cy="4937760"/>
          </a:xfrm>
          <a:prstGeom prst="rect">
            <a:avLst/>
          </a:prstGeom>
          <a:noFill/>
        </p:spPr>
        <p:txBody>
          <a:bodyPr wrap="square">
            <a:spAutoFit/>
          </a:bodyPr>
          <a:lstStyle/>
          <a:p>
            <a:pPr>
              <a:spcAft>
                <a:spcPts val="1000"/>
              </a:spcAft>
              <a:defRPr sz="2100" b="0">
                <a:solidFill>
                  <a:srgbClr val="374558"/>
                </a:solidFill>
                <a:latin typeface="Aptos"/>
              </a:defRPr>
            </a:pPr>
            <a:r>
              <a:t>• Web access from computers and mobile devices</a:t>
            </a:r>
          </a:p>
          <a:p>
            <a:pPr>
              <a:spcAft>
                <a:spcPts val="1000"/>
              </a:spcAft>
              <a:defRPr sz="2100" b="0">
                <a:solidFill>
                  <a:srgbClr val="374558"/>
                </a:solidFill>
                <a:latin typeface="Aptos"/>
              </a:defRPr>
            </a:pPr>
            <a:r>
              <a:t>• Customer accounts and training packages</a:t>
            </a:r>
          </a:p>
          <a:p>
            <a:pPr>
              <a:spcAft>
                <a:spcPts val="1000"/>
              </a:spcAft>
              <a:defRPr sz="2100" b="0">
                <a:solidFill>
                  <a:srgbClr val="374558"/>
                </a:solidFill>
                <a:latin typeface="Aptos"/>
              </a:defRPr>
            </a:pPr>
            <a:r>
              <a:t>• Two-hour lesson scheduling and appointment changes</a:t>
            </a:r>
          </a:p>
          <a:p>
            <a:pPr>
              <a:spcAft>
                <a:spcPts val="1000"/>
              </a:spcAft>
              <a:defRPr sz="2100" b="0">
                <a:solidFill>
                  <a:srgbClr val="374558"/>
                </a:solidFill>
                <a:latin typeface="Aptos"/>
              </a:defRPr>
            </a:pPr>
            <a:r>
              <a:t>• Online classes and practice tests for eligible packages</a:t>
            </a:r>
          </a:p>
          <a:p>
            <a:pPr>
              <a:spcAft>
                <a:spcPts val="1000"/>
              </a:spcAft>
              <a:defRPr sz="2100" b="0">
                <a:solidFill>
                  <a:srgbClr val="374558"/>
                </a:solidFill>
                <a:latin typeface="Aptos"/>
              </a:defRPr>
            </a:pPr>
            <a:r>
              <a:t>• Driver, vehicle, and reservation tracking</a:t>
            </a:r>
          </a:p>
          <a:p>
            <a:pPr>
              <a:spcAft>
                <a:spcPts val="1000"/>
              </a:spcAft>
              <a:defRPr sz="2100" b="0">
                <a:solidFill>
                  <a:srgbClr val="374558"/>
                </a:solidFill>
                <a:latin typeface="Aptos"/>
              </a:defRPr>
            </a:pPr>
            <a:r>
              <a:t>• Reports, DMV updates, and change history</a:t>
            </a:r>
          </a:p>
        </p:txBody>
      </p:sp>
      <p:sp>
        <p:nvSpPr>
          <p:cNvPr id="5" name="Rectangle 4"/>
          <p:cNvSpPr/>
          <p:nvPr/>
        </p:nvSpPr>
        <p:spPr>
          <a:xfrm>
            <a:off x="731520" y="6263640"/>
            <a:ext cx="10698480" cy="22860"/>
          </a:xfrm>
          <a:prstGeom prst="rect">
            <a:avLst/>
          </a:prstGeom>
          <a:solidFill>
            <a:srgbClr val="D2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473952"/>
            <a:ext cx="640080" cy="182880"/>
          </a:xfrm>
          <a:prstGeom prst="rect">
            <a:avLst/>
          </a:prstGeom>
          <a:noFill/>
        </p:spPr>
        <p:txBody>
          <a:bodyPr wrap="square">
            <a:spAutoFit/>
          </a:bodyPr>
          <a:lstStyle/>
          <a:p>
            <a:pPr>
              <a:spcAft>
                <a:spcPts val="1000"/>
              </a:spcAft>
              <a:defRPr sz="900" b="0">
                <a:solidFill>
                  <a:srgbClr val="596579"/>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5129"/>
            <a:ext cx="10881360" cy="594360"/>
          </a:xfrm>
          <a:prstGeom prst="rect">
            <a:avLst/>
          </a:prstGeom>
          <a:noFill/>
        </p:spPr>
        <p:txBody>
          <a:bodyPr wrap="square">
            <a:spAutoFit/>
          </a:bodyPr>
          <a:lstStyle/>
          <a:p>
            <a:pPr>
              <a:spcAft>
                <a:spcPts val="1000"/>
              </a:spcAft>
              <a:defRPr sz="3000" b="1">
                <a:solidFill>
                  <a:srgbClr val="17365D"/>
                </a:solidFill>
                <a:latin typeface="Aptos"/>
              </a:defRPr>
            </a:pPr>
            <a:r>
              <a:rPr dirty="0"/>
              <a:t>How People Use </a:t>
            </a:r>
            <a:r>
              <a:rPr dirty="0" err="1"/>
              <a:t>DriverPass</a:t>
            </a:r>
            <a:endParaRPr dirty="0"/>
          </a:p>
        </p:txBody>
      </p:sp>
      <p:pic>
        <p:nvPicPr>
          <p:cNvPr id="4" name="Picture 3" descr="use_case_diagram.png"/>
          <p:cNvPicPr>
            <a:picLocks noChangeAspect="1"/>
          </p:cNvPicPr>
          <p:nvPr/>
        </p:nvPicPr>
        <p:blipFill>
          <a:blip r:embed="rId3"/>
          <a:stretch>
            <a:fillRect/>
          </a:stretch>
        </p:blipFill>
        <p:spPr>
          <a:xfrm>
            <a:off x="3847827" y="779489"/>
            <a:ext cx="7915741" cy="6035040"/>
          </a:xfrm>
          <a:prstGeom prst="rect">
            <a:avLst/>
          </a:prstGeom>
          <a:solidFill>
            <a:schemeClr val="bg2">
              <a:lumMod val="10000"/>
              <a:alpha val="0"/>
            </a:schemeClr>
          </a:solidFill>
        </p:spPr>
      </p:pic>
      <p:sp>
        <p:nvSpPr>
          <p:cNvPr id="5" name="TextBox 4"/>
          <p:cNvSpPr txBox="1"/>
          <p:nvPr/>
        </p:nvSpPr>
        <p:spPr>
          <a:xfrm>
            <a:off x="731520" y="6217920"/>
            <a:ext cx="10789920" cy="320040"/>
          </a:xfrm>
          <a:prstGeom prst="rect">
            <a:avLst/>
          </a:prstGeom>
          <a:noFill/>
        </p:spPr>
        <p:txBody>
          <a:bodyPr wrap="square">
            <a:spAutoFit/>
          </a:bodyPr>
          <a:lstStyle/>
          <a:p>
            <a:pPr>
              <a:spcAft>
                <a:spcPts val="1000"/>
              </a:spcAft>
              <a:defRPr sz="1200" b="0">
                <a:solidFill>
                  <a:srgbClr val="596579"/>
                </a:solidFill>
                <a:latin typeface="Aptos"/>
              </a:defRPr>
            </a:pPr>
            <a:r>
              <a:t>Main actors and use cases in the proposed DriverPass system</a:t>
            </a:r>
          </a:p>
        </p:txBody>
      </p:sp>
      <p:sp>
        <p:nvSpPr>
          <p:cNvPr id="6" name="TextBox 5"/>
          <p:cNvSpPr txBox="1"/>
          <p:nvPr/>
        </p:nvSpPr>
        <p:spPr>
          <a:xfrm>
            <a:off x="10972800" y="6473952"/>
            <a:ext cx="640080" cy="182880"/>
          </a:xfrm>
          <a:prstGeom prst="rect">
            <a:avLst/>
          </a:prstGeom>
          <a:noFill/>
        </p:spPr>
        <p:txBody>
          <a:bodyPr wrap="square">
            <a:spAutoFit/>
          </a:bodyPr>
          <a:lstStyle/>
          <a:p>
            <a:pPr>
              <a:spcAft>
                <a:spcPts val="1000"/>
              </a:spcAft>
              <a:defRPr sz="900" b="0">
                <a:solidFill>
                  <a:srgbClr val="596579"/>
                </a:solidFill>
                <a:latin typeface="Aptos"/>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881360" cy="594360"/>
          </a:xfrm>
          <a:prstGeom prst="rect">
            <a:avLst/>
          </a:prstGeom>
          <a:noFill/>
        </p:spPr>
        <p:txBody>
          <a:bodyPr wrap="square">
            <a:spAutoFit/>
          </a:bodyPr>
          <a:lstStyle/>
          <a:p>
            <a:pPr>
              <a:spcAft>
                <a:spcPts val="1000"/>
              </a:spcAft>
              <a:defRPr sz="3000" b="1">
                <a:solidFill>
                  <a:srgbClr val="17365D"/>
                </a:solidFill>
                <a:latin typeface="Aptos"/>
              </a:defRPr>
            </a:pPr>
            <a:r>
              <a:t>Scheduling a Driving Lesson</a:t>
            </a:r>
          </a:p>
        </p:txBody>
      </p:sp>
      <p:pic>
        <p:nvPicPr>
          <p:cNvPr id="4" name="Picture 3" descr="activity_schedule_lesson.png"/>
          <p:cNvPicPr>
            <a:picLocks noChangeAspect="1"/>
          </p:cNvPicPr>
          <p:nvPr/>
        </p:nvPicPr>
        <p:blipFill>
          <a:blip r:embed="rId3"/>
          <a:stretch>
            <a:fillRect/>
          </a:stretch>
        </p:blipFill>
        <p:spPr>
          <a:xfrm>
            <a:off x="1920240" y="1143000"/>
            <a:ext cx="8321040" cy="5303520"/>
          </a:xfrm>
          <a:prstGeom prst="rect">
            <a:avLst/>
          </a:prstGeom>
        </p:spPr>
      </p:pic>
      <p:sp>
        <p:nvSpPr>
          <p:cNvPr id="5" name="TextBox 4"/>
          <p:cNvSpPr txBox="1"/>
          <p:nvPr/>
        </p:nvSpPr>
        <p:spPr>
          <a:xfrm>
            <a:off x="731520" y="6263640"/>
            <a:ext cx="10789920" cy="320040"/>
          </a:xfrm>
          <a:prstGeom prst="rect">
            <a:avLst/>
          </a:prstGeom>
          <a:noFill/>
        </p:spPr>
        <p:txBody>
          <a:bodyPr wrap="square">
            <a:spAutoFit/>
          </a:bodyPr>
          <a:lstStyle/>
          <a:p>
            <a:pPr>
              <a:spcAft>
                <a:spcPts val="1000"/>
              </a:spcAft>
              <a:defRPr sz="1200" b="0">
                <a:solidFill>
                  <a:srgbClr val="596579"/>
                </a:solidFill>
                <a:latin typeface="Aptos"/>
              </a:defRPr>
            </a:pPr>
            <a:r>
              <a:rPr dirty="0"/>
              <a:t>Availability is checked before a reservation is confirmed.</a:t>
            </a:r>
          </a:p>
        </p:txBody>
      </p:sp>
      <p:sp>
        <p:nvSpPr>
          <p:cNvPr id="6" name="TextBox 5"/>
          <p:cNvSpPr txBox="1"/>
          <p:nvPr/>
        </p:nvSpPr>
        <p:spPr>
          <a:xfrm>
            <a:off x="10972800" y="6473952"/>
            <a:ext cx="640080" cy="182880"/>
          </a:xfrm>
          <a:prstGeom prst="rect">
            <a:avLst/>
          </a:prstGeom>
          <a:noFill/>
        </p:spPr>
        <p:txBody>
          <a:bodyPr wrap="square">
            <a:spAutoFit/>
          </a:bodyPr>
          <a:lstStyle/>
          <a:p>
            <a:pPr>
              <a:spcAft>
                <a:spcPts val="1000"/>
              </a:spcAft>
              <a:defRPr sz="900" b="0">
                <a:solidFill>
                  <a:srgbClr val="596579"/>
                </a:solidFill>
                <a:latin typeface="Aptos"/>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881360" cy="594360"/>
          </a:xfrm>
          <a:prstGeom prst="rect">
            <a:avLst/>
          </a:prstGeom>
          <a:noFill/>
        </p:spPr>
        <p:txBody>
          <a:bodyPr wrap="square">
            <a:spAutoFit/>
          </a:bodyPr>
          <a:lstStyle/>
          <a:p>
            <a:pPr>
              <a:spcAft>
                <a:spcPts val="1000"/>
              </a:spcAft>
              <a:defRPr sz="3000" b="1">
                <a:solidFill>
                  <a:srgbClr val="17365D"/>
                </a:solidFill>
                <a:latin typeface="Aptos"/>
              </a:defRPr>
            </a:pPr>
            <a:r>
              <a:t>Security and Customer Information</a:t>
            </a:r>
          </a:p>
        </p:txBody>
      </p:sp>
      <p:sp>
        <p:nvSpPr>
          <p:cNvPr id="4" name="TextBox 3"/>
          <p:cNvSpPr txBox="1"/>
          <p:nvPr/>
        </p:nvSpPr>
        <p:spPr>
          <a:xfrm>
            <a:off x="822960" y="1371600"/>
            <a:ext cx="10424160" cy="4937760"/>
          </a:xfrm>
          <a:prstGeom prst="rect">
            <a:avLst/>
          </a:prstGeom>
          <a:noFill/>
        </p:spPr>
        <p:txBody>
          <a:bodyPr wrap="square">
            <a:spAutoFit/>
          </a:bodyPr>
          <a:lstStyle/>
          <a:p>
            <a:pPr>
              <a:spcAft>
                <a:spcPts val="1000"/>
              </a:spcAft>
              <a:defRPr sz="2100" b="0">
                <a:solidFill>
                  <a:srgbClr val="374558"/>
                </a:solidFill>
                <a:latin typeface="Aptos"/>
              </a:defRPr>
            </a:pPr>
            <a:r>
              <a:t>• Different access for customers and employee roles</a:t>
            </a:r>
          </a:p>
          <a:p>
            <a:pPr>
              <a:spcAft>
                <a:spcPts val="1000"/>
              </a:spcAft>
              <a:defRPr sz="2100" b="0">
                <a:solidFill>
                  <a:srgbClr val="374558"/>
                </a:solidFill>
                <a:latin typeface="Aptos"/>
              </a:defRPr>
            </a:pPr>
            <a:r>
              <a:t>• Password reset and account blocking for IT staff</a:t>
            </a:r>
          </a:p>
          <a:p>
            <a:pPr>
              <a:spcAft>
                <a:spcPts val="1000"/>
              </a:spcAft>
              <a:defRPr sz="2100" b="0">
                <a:solidFill>
                  <a:srgbClr val="374558"/>
                </a:solidFill>
                <a:latin typeface="Aptos"/>
              </a:defRPr>
            </a:pPr>
            <a:r>
              <a:t>• Secure web connection and cloud backups</a:t>
            </a:r>
          </a:p>
          <a:p>
            <a:pPr>
              <a:spcAft>
                <a:spcPts val="1000"/>
              </a:spcAft>
              <a:defRPr sz="2100" b="0">
                <a:solidFill>
                  <a:srgbClr val="374558"/>
                </a:solidFill>
                <a:latin typeface="Aptos"/>
              </a:defRPr>
            </a:pPr>
            <a:r>
              <a:t>• Reservation changes recorded with user and time</a:t>
            </a:r>
          </a:p>
          <a:p>
            <a:pPr>
              <a:spcAft>
                <a:spcPts val="1000"/>
              </a:spcAft>
              <a:defRPr sz="2100" b="0">
                <a:solidFill>
                  <a:srgbClr val="374558"/>
                </a:solidFill>
                <a:latin typeface="Aptos"/>
              </a:defRPr>
            </a:pPr>
            <a:r>
              <a:t>• Third-party payment provider for card transactions</a:t>
            </a:r>
          </a:p>
        </p:txBody>
      </p:sp>
      <p:sp>
        <p:nvSpPr>
          <p:cNvPr id="5" name="Rectangle 4"/>
          <p:cNvSpPr/>
          <p:nvPr/>
        </p:nvSpPr>
        <p:spPr>
          <a:xfrm>
            <a:off x="731520" y="6263640"/>
            <a:ext cx="10698480" cy="22860"/>
          </a:xfrm>
          <a:prstGeom prst="rect">
            <a:avLst/>
          </a:prstGeom>
          <a:solidFill>
            <a:srgbClr val="D2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473952"/>
            <a:ext cx="640080" cy="182880"/>
          </a:xfrm>
          <a:prstGeom prst="rect">
            <a:avLst/>
          </a:prstGeom>
          <a:noFill/>
        </p:spPr>
        <p:txBody>
          <a:bodyPr wrap="square">
            <a:spAutoFit/>
          </a:bodyPr>
          <a:lstStyle/>
          <a:p>
            <a:pPr>
              <a:spcAft>
                <a:spcPts val="1000"/>
              </a:spcAft>
              <a:defRPr sz="900" b="0">
                <a:solidFill>
                  <a:srgbClr val="596579"/>
                </a:solidFill>
                <a:latin typeface="Aptos"/>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881360" cy="594360"/>
          </a:xfrm>
          <a:prstGeom prst="rect">
            <a:avLst/>
          </a:prstGeom>
          <a:noFill/>
        </p:spPr>
        <p:txBody>
          <a:bodyPr wrap="square">
            <a:spAutoFit/>
          </a:bodyPr>
          <a:lstStyle/>
          <a:p>
            <a:pPr>
              <a:spcAft>
                <a:spcPts val="1000"/>
              </a:spcAft>
              <a:defRPr sz="3000" b="1">
                <a:solidFill>
                  <a:srgbClr val="17365D"/>
                </a:solidFill>
                <a:latin typeface="Aptos"/>
              </a:defRPr>
            </a:pPr>
            <a:r>
              <a:t>System Limitations</a:t>
            </a:r>
          </a:p>
        </p:txBody>
      </p:sp>
      <p:sp>
        <p:nvSpPr>
          <p:cNvPr id="4" name="TextBox 3"/>
          <p:cNvSpPr txBox="1"/>
          <p:nvPr/>
        </p:nvSpPr>
        <p:spPr>
          <a:xfrm>
            <a:off x="822960" y="1371600"/>
            <a:ext cx="10424160" cy="4937760"/>
          </a:xfrm>
          <a:prstGeom prst="rect">
            <a:avLst/>
          </a:prstGeom>
          <a:noFill/>
        </p:spPr>
        <p:txBody>
          <a:bodyPr wrap="square">
            <a:spAutoFit/>
          </a:bodyPr>
          <a:lstStyle/>
          <a:p>
            <a:pPr>
              <a:spcAft>
                <a:spcPts val="1000"/>
              </a:spcAft>
              <a:defRPr sz="2100" b="0">
                <a:solidFill>
                  <a:srgbClr val="374558"/>
                </a:solidFill>
                <a:latin typeface="Aptos"/>
              </a:defRPr>
            </a:pPr>
            <a:r>
              <a:t>• Internet required to change central records</a:t>
            </a:r>
          </a:p>
          <a:p>
            <a:pPr>
              <a:spcAft>
                <a:spcPts val="1000"/>
              </a:spcAft>
              <a:defRPr sz="2100" b="0">
                <a:solidFill>
                  <a:srgbClr val="374558"/>
                </a:solidFill>
                <a:latin typeface="Aptos"/>
              </a:defRPr>
            </a:pPr>
            <a:r>
              <a:t>• Offline work is limited to downloaded reports</a:t>
            </a:r>
          </a:p>
          <a:p>
            <a:pPr>
              <a:spcAft>
                <a:spcPts val="1000"/>
              </a:spcAft>
              <a:defRPr sz="2100" b="0">
                <a:solidFill>
                  <a:srgbClr val="374558"/>
                </a:solidFill>
                <a:latin typeface="Aptos"/>
              </a:defRPr>
            </a:pPr>
            <a:r>
              <a:t>• DMV updates depend on an available external connection</a:t>
            </a:r>
          </a:p>
          <a:p>
            <a:pPr>
              <a:spcAft>
                <a:spcPts val="1000"/>
              </a:spcAft>
              <a:defRPr sz="2100" b="0">
                <a:solidFill>
                  <a:srgbClr val="374558"/>
                </a:solidFill>
                <a:latin typeface="Aptos"/>
              </a:defRPr>
            </a:pPr>
            <a:r>
              <a:t>• Payment processing depends on the selected provider</a:t>
            </a:r>
          </a:p>
          <a:p>
            <a:pPr>
              <a:spcAft>
                <a:spcPts val="1000"/>
              </a:spcAft>
              <a:defRPr sz="2100" b="0">
                <a:solidFill>
                  <a:srgbClr val="374558"/>
                </a:solidFill>
                <a:latin typeface="Aptos"/>
              </a:defRPr>
            </a:pPr>
            <a:r>
              <a:t>• New modules or major feature changes require developer support</a:t>
            </a:r>
          </a:p>
        </p:txBody>
      </p:sp>
      <p:sp>
        <p:nvSpPr>
          <p:cNvPr id="5" name="Rectangle 4"/>
          <p:cNvSpPr/>
          <p:nvPr/>
        </p:nvSpPr>
        <p:spPr>
          <a:xfrm>
            <a:off x="731520" y="6263640"/>
            <a:ext cx="10698480" cy="22860"/>
          </a:xfrm>
          <a:prstGeom prst="rect">
            <a:avLst/>
          </a:prstGeom>
          <a:solidFill>
            <a:srgbClr val="D2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473952"/>
            <a:ext cx="640080" cy="182880"/>
          </a:xfrm>
          <a:prstGeom prst="rect">
            <a:avLst/>
          </a:prstGeom>
          <a:noFill/>
        </p:spPr>
        <p:txBody>
          <a:bodyPr wrap="square">
            <a:spAutoFit/>
          </a:bodyPr>
          <a:lstStyle/>
          <a:p>
            <a:pPr>
              <a:spcAft>
                <a:spcPts val="1000"/>
              </a:spcAft>
              <a:defRPr sz="900" b="0">
                <a:solidFill>
                  <a:srgbClr val="596579"/>
                </a:solidFill>
                <a:latin typeface="Aptos"/>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10881360" cy="594360"/>
          </a:xfrm>
          <a:prstGeom prst="rect">
            <a:avLst/>
          </a:prstGeom>
          <a:noFill/>
        </p:spPr>
        <p:txBody>
          <a:bodyPr wrap="square">
            <a:spAutoFit/>
          </a:bodyPr>
          <a:lstStyle/>
          <a:p>
            <a:pPr>
              <a:spcAft>
                <a:spcPts val="1000"/>
              </a:spcAft>
              <a:defRPr sz="3000" b="1">
                <a:solidFill>
                  <a:srgbClr val="17365D"/>
                </a:solidFill>
                <a:latin typeface="Aptos"/>
              </a:defRPr>
            </a:pPr>
            <a:r>
              <a:t>Next Steps</a:t>
            </a:r>
          </a:p>
        </p:txBody>
      </p:sp>
      <p:sp>
        <p:nvSpPr>
          <p:cNvPr id="4" name="TextBox 3"/>
          <p:cNvSpPr txBox="1"/>
          <p:nvPr/>
        </p:nvSpPr>
        <p:spPr>
          <a:xfrm>
            <a:off x="822960" y="1371600"/>
            <a:ext cx="10424160" cy="4937760"/>
          </a:xfrm>
          <a:prstGeom prst="rect">
            <a:avLst/>
          </a:prstGeom>
          <a:noFill/>
        </p:spPr>
        <p:txBody>
          <a:bodyPr wrap="square">
            <a:spAutoFit/>
          </a:bodyPr>
          <a:lstStyle/>
          <a:p>
            <a:pPr>
              <a:spcAft>
                <a:spcPts val="1000"/>
              </a:spcAft>
              <a:defRPr sz="2100" b="0">
                <a:solidFill>
                  <a:srgbClr val="374558"/>
                </a:solidFill>
                <a:latin typeface="Aptos"/>
              </a:defRPr>
            </a:pPr>
            <a:r>
              <a:t>• Confirm the payment provider and DMV update method</a:t>
            </a:r>
          </a:p>
          <a:p>
            <a:pPr>
              <a:spcAft>
                <a:spcPts val="1000"/>
              </a:spcAft>
              <a:defRPr sz="2100" b="0">
                <a:solidFill>
                  <a:srgbClr val="374558"/>
                </a:solidFill>
                <a:latin typeface="Aptos"/>
              </a:defRPr>
            </a:pPr>
            <a:r>
              <a:t>• Review role permissions and audit requirements</a:t>
            </a:r>
          </a:p>
          <a:p>
            <a:pPr>
              <a:spcAft>
                <a:spcPts val="1000"/>
              </a:spcAft>
              <a:defRPr sz="2100" b="0">
                <a:solidFill>
                  <a:srgbClr val="374558"/>
                </a:solidFill>
                <a:latin typeface="Aptos"/>
              </a:defRPr>
            </a:pPr>
            <a:r>
              <a:t>• Validate scheduling rules with DriverPass</a:t>
            </a:r>
          </a:p>
          <a:p>
            <a:pPr>
              <a:spcAft>
                <a:spcPts val="1000"/>
              </a:spcAft>
              <a:defRPr sz="2100" b="0">
                <a:solidFill>
                  <a:srgbClr val="374558"/>
                </a:solidFill>
                <a:latin typeface="Aptos"/>
              </a:defRPr>
            </a:pPr>
            <a:r>
              <a:t>• Approve the design before development begins</a:t>
            </a:r>
          </a:p>
        </p:txBody>
      </p:sp>
      <p:sp>
        <p:nvSpPr>
          <p:cNvPr id="5" name="Rectangle 4"/>
          <p:cNvSpPr/>
          <p:nvPr/>
        </p:nvSpPr>
        <p:spPr>
          <a:xfrm>
            <a:off x="731520" y="6263640"/>
            <a:ext cx="10698480" cy="22860"/>
          </a:xfrm>
          <a:prstGeom prst="rect">
            <a:avLst/>
          </a:prstGeom>
          <a:solidFill>
            <a:srgbClr val="D2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473952"/>
            <a:ext cx="640080" cy="182880"/>
          </a:xfrm>
          <a:prstGeom prst="rect">
            <a:avLst/>
          </a:prstGeom>
          <a:noFill/>
        </p:spPr>
        <p:txBody>
          <a:bodyPr wrap="square">
            <a:spAutoFit/>
          </a:bodyPr>
          <a:lstStyle/>
          <a:p>
            <a:pPr>
              <a:spcAft>
                <a:spcPts val="1000"/>
              </a:spcAft>
              <a:defRPr sz="900" b="0">
                <a:solidFill>
                  <a:srgbClr val="596579"/>
                </a:solidFill>
                <a:latin typeface="Aptos"/>
              </a:defRPr>
            </a:pPr>
            <a: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795</Words>
  <Application>Microsoft Office PowerPoint</Application>
  <PresentationFormat>Widescreen</PresentationFormat>
  <Paragraphs>45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Kristina Pagan</cp:lastModifiedBy>
  <cp:revision>2</cp:revision>
  <dcterms:created xsi:type="dcterms:W3CDTF">2013-01-27T09:14:16Z</dcterms:created>
  <dcterms:modified xsi:type="dcterms:W3CDTF">2026-10-15T21:36:52Z</dcterms:modified>
  <cp:category/>
</cp:coreProperties>
</file>